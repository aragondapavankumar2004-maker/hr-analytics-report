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HR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DA"/>
                </a:solidFill>
              </a:defRPr>
            </a:pPr>
            <a:r>
              <a:t>Employee Workforce Analysis using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5F5F5"/>
                </a:solidFill>
              </a:defRPr>
            </a:pPr>
            <a:r>
              <a:rPr dirty="0"/>
              <a:t>Project Presentation</a:t>
            </a:r>
          </a:p>
          <a:p>
            <a:pPr>
              <a:spcAft>
                <a:spcPts val="1000"/>
              </a:spcAft>
              <a:defRPr sz="2200">
                <a:solidFill>
                  <a:srgbClr val="F5F5F5"/>
                </a:solidFill>
              </a:defRPr>
            </a:pPr>
            <a:r>
              <a:rPr dirty="0"/>
              <a:t>Analysis of workforce size, demographics, hiring trends and department distribution</a:t>
            </a:r>
          </a:p>
          <a:p>
            <a:pPr>
              <a:spcAft>
                <a:spcPts val="1000"/>
              </a:spcAft>
              <a:defRPr sz="2200">
                <a:solidFill>
                  <a:srgbClr val="F5F5F5"/>
                </a:solidFill>
              </a:defRPr>
            </a:pPr>
            <a:r>
              <a:rPr dirty="0"/>
              <a:t>Tool Used: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92120"/>
            <a:ext cx="310379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</a:defRPr>
            </a:pPr>
            <a:r>
              <a:rPr lang="en-IN" dirty="0"/>
              <a:t> </a:t>
            </a:r>
            <a:r>
              <a:rPr dirty="0"/>
              <a:t>Prepared by: </a:t>
            </a:r>
            <a:r>
              <a:rPr lang="en-IN" dirty="0" err="1"/>
              <a:t>Aragonda</a:t>
            </a:r>
            <a:r>
              <a:rPr lang="en-IN" dirty="0"/>
              <a:t> Pavankumar 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E460E0-4B00-D613-26D9-B8470866952F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60C81-9403-F5F7-2F2F-CD346BAFAD8E}"/>
              </a:ext>
            </a:extLst>
          </p:cNvPr>
          <p:cNvSpPr/>
          <p:nvPr/>
        </p:nvSpPr>
        <p:spPr>
          <a:xfrm>
            <a:off x="11031794" y="9832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Analyze the overall employee workforce and key HR metrics.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Understand the distribution of remote and headquarters employees.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Study employee hiring trends over time.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Analyze workforce demographics by gender, state and race.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Identify departments with the highest employee concentration.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Generate insights to support workforce planning and HR decision-making.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97F80B-92E4-FACA-C8FC-05AA60929734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433F6-C970-2C1C-3618-4C59BA6A210D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2. HR 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5F5F5"/>
                </a:solidFill>
              </a:defRPr>
            </a:pPr>
            <a:r>
              <a:rPr lang="en-IN" dirty="0"/>
              <a:t>    </a:t>
            </a:r>
            <a:r>
              <a:rPr dirty="0"/>
              <a:t>The dashboard combines KPI cards, interactive filters and workforce distribution charts in a single Power BI report.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BC5B8C-39AD-16C1-6405-3E035D7ACF59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E0EE28-D2C2-64C4-75AA-CD2D5D2F7771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5F1D4-A9D7-A119-D5B9-CBAF6068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96112"/>
            <a:ext cx="10470371" cy="501341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3. Workforce KPI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2240280" cy="1234440"/>
          </a:xfrm>
          <a:prstGeom prst="rect">
            <a:avLst/>
          </a:prstGeom>
          <a:solidFill>
            <a:srgbClr val="495B59"/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 dirty="0">
              <a:solidFill>
                <a:srgbClr val="D2DCDA"/>
              </a:solidFill>
            </a:endParaRPr>
          </a:p>
          <a:p>
            <a:pPr algn="ctr"/>
            <a:endParaRPr lang="en-IN" sz="1300" b="1" dirty="0">
              <a:solidFill>
                <a:srgbClr val="D2DCDA"/>
              </a:solidFill>
            </a:endParaRPr>
          </a:p>
          <a:p>
            <a:pPr algn="ctr"/>
            <a:r>
              <a:rPr sz="1300" b="1" dirty="0">
                <a:solidFill>
                  <a:srgbClr val="D2DCDA"/>
                </a:solidFill>
              </a:rPr>
              <a:t>Total Employees</a:t>
            </a:r>
          </a:p>
          <a:p>
            <a:pPr algn="ctr"/>
            <a:r>
              <a:rPr lang="en-IN" sz="2400" dirty="0"/>
              <a:t>18k</a:t>
            </a:r>
          </a:p>
          <a:p>
            <a:pPr algn="ctr"/>
            <a:endParaRPr sz="2400" b="1" dirty="0">
              <a:solidFill>
                <a:srgbClr val="D2DCD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63240" y="1325880"/>
            <a:ext cx="2240280" cy="1234440"/>
          </a:xfrm>
          <a:prstGeom prst="rect">
            <a:avLst/>
          </a:prstGeom>
          <a:solidFill>
            <a:srgbClr val="495B59"/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2DCDA"/>
                </a:solidFill>
              </a:defRPr>
            </a:pPr>
            <a:r>
              <a:rPr dirty="0"/>
              <a:t>Remote Employees</a:t>
            </a:r>
          </a:p>
          <a:p>
            <a:pPr algn="ctr">
              <a:defRPr sz="2500" b="1">
                <a:solidFill>
                  <a:srgbClr val="F5F5F5"/>
                </a:solidFill>
              </a:defRPr>
            </a:pPr>
            <a:r>
              <a:rPr lang="en-IN" dirty="0"/>
              <a:t>25.02</a:t>
            </a:r>
            <a:r>
              <a:rPr dirty="0"/>
              <a:t>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40680" y="1325880"/>
            <a:ext cx="2240280" cy="1234440"/>
          </a:xfrm>
          <a:prstGeom prst="rect">
            <a:avLst/>
          </a:prstGeom>
          <a:solidFill>
            <a:srgbClr val="495B59"/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2DCDA"/>
                </a:solidFill>
              </a:defRPr>
            </a:pPr>
            <a:r>
              <a:rPr dirty="0"/>
              <a:t>HQ Employees</a:t>
            </a:r>
          </a:p>
          <a:p>
            <a:pPr algn="ctr">
              <a:defRPr sz="2500" b="1">
                <a:solidFill>
                  <a:srgbClr val="F5F5F5"/>
                </a:solidFill>
              </a:defRPr>
            </a:pPr>
            <a:r>
              <a:rPr lang="en-IN" dirty="0"/>
              <a:t>74.98</a:t>
            </a:r>
            <a:r>
              <a:rPr dirty="0"/>
              <a:t>%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25880"/>
            <a:ext cx="2743200" cy="1234440"/>
          </a:xfrm>
          <a:prstGeom prst="rect">
            <a:avLst/>
          </a:prstGeom>
          <a:solidFill>
            <a:srgbClr val="495B59"/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2DCDA"/>
                </a:solidFill>
              </a:defRPr>
            </a:pPr>
            <a:r>
              <a:rPr dirty="0"/>
              <a:t>Average Age</a:t>
            </a:r>
          </a:p>
          <a:p>
            <a:pPr algn="ctr">
              <a:defRPr sz="2500" b="1">
                <a:solidFill>
                  <a:srgbClr val="F5F5F5"/>
                </a:solidFill>
              </a:defRPr>
            </a:pPr>
            <a:r>
              <a:rPr dirty="0"/>
              <a:t>38.4</a:t>
            </a:r>
            <a:r>
              <a:rPr lang="en-IN" dirty="0"/>
              <a:t>7 </a:t>
            </a:r>
            <a:r>
              <a:rPr dirty="0"/>
              <a:t>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454785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The organization has approximately </a:t>
            </a:r>
            <a:r>
              <a:rPr lang="en-IN" dirty="0"/>
              <a:t>18000</a:t>
            </a:r>
            <a:r>
              <a:rPr dirty="0"/>
              <a:t> employees.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The workforce is primarily based at headquarters (</a:t>
            </a:r>
            <a:r>
              <a:rPr lang="en-IN" dirty="0"/>
              <a:t>74.98%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Remote employees account for </a:t>
            </a:r>
            <a:r>
              <a:rPr lang="en-IN" dirty="0"/>
              <a:t>25.02%</a:t>
            </a:r>
            <a:r>
              <a:rPr dirty="0"/>
              <a:t> of the workforce.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The average employee age is 38.4</a:t>
            </a:r>
            <a:r>
              <a:rPr lang="en-IN" dirty="0"/>
              <a:t>7</a:t>
            </a:r>
            <a:r>
              <a:rPr dirty="0"/>
              <a:t> years, indicating a mature and experienced workforce profile.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181FBF-515C-B5A9-73E4-85E54376BDC9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69EBB1-A8CC-EB93-301F-9797AF56D827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4. Employee Hiring Trend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6464" y="1875504"/>
            <a:ext cx="6843251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b="1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•</a:t>
            </a:r>
            <a:r>
              <a:rPr lang="en-IN" b="1" dirty="0">
                <a:solidFill>
                  <a:schemeClr val="bg1"/>
                </a:solidFill>
              </a:rPr>
              <a:t> Initial Rapid Growth (2000–2001):</a:t>
            </a:r>
            <a:r>
              <a:rPr lang="en-IN" dirty="0">
                <a:solidFill>
                  <a:schemeClr val="bg1"/>
                </a:solidFill>
              </a:rPr>
              <a:t> Recruitment surged from 189 hires in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    2000 to over 900 hires per year starting in 2001.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lang="en-IN" b="1" dirty="0">
                <a:solidFill>
                  <a:schemeClr val="bg1"/>
                </a:solidFill>
              </a:rPr>
              <a:t>Consistent Hiring Baseline (2001–2020):</a:t>
            </a:r>
            <a:r>
              <a:rPr lang="en-IN" dirty="0">
                <a:solidFill>
                  <a:schemeClr val="bg1"/>
                </a:solidFill>
              </a:rPr>
              <a:t> Annual recruitment remained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    remained highly stable over two decades, fluctuating within a predictable 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    range of 830 to 970 hires.                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lang="en-IN" b="1" dirty="0">
                <a:solidFill>
                  <a:schemeClr val="bg1"/>
                </a:solidFill>
              </a:rPr>
              <a:t>Peak &amp; Decline (2018–2020):</a:t>
            </a:r>
            <a:r>
              <a:rPr lang="en-IN" dirty="0">
                <a:solidFill>
                  <a:schemeClr val="bg1"/>
                </a:solidFill>
              </a:rPr>
              <a:t> Hiring reached a peak of 969 hires in 2018 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   before dropping by 13.4% to 839 hires in 2020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         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2B603F-97E0-6275-69B0-21491A8DFBC8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6C685C-F8C8-D6C4-48D2-64B863AF0831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8C596-98EE-0F75-3061-942B521E2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326" r="66283" b="44240"/>
          <a:stretch>
            <a:fillRect/>
          </a:stretch>
        </p:blipFill>
        <p:spPr>
          <a:xfrm>
            <a:off x="721910" y="1875504"/>
            <a:ext cx="3977909" cy="24777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5. Employee Gender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4490" y="1643462"/>
            <a:ext cx="5908204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  </a:t>
            </a:r>
            <a:r>
              <a:rPr dirty="0"/>
              <a:t>The gender distribution is nearly balanced.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</a:t>
            </a:r>
            <a:r>
              <a:rPr lang="en-IN" dirty="0"/>
              <a:t> </a:t>
            </a:r>
            <a:r>
              <a:rPr dirty="0"/>
              <a:t>The dashboard shows approximately </a:t>
            </a:r>
            <a:r>
              <a:rPr lang="en-IN" dirty="0"/>
              <a:t>8</a:t>
            </a:r>
            <a:r>
              <a:rPr dirty="0"/>
              <a:t>K female employees</a:t>
            </a:r>
            <a:endParaRPr lang="en-IN" dirty="0"/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    (46.24%).</a:t>
            </a:r>
            <a:r>
              <a:rPr dirty="0"/>
              <a:t> </a:t>
            </a:r>
            <a:r>
              <a:rPr lang="en-IN" dirty="0"/>
              <a:t>     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 </a:t>
            </a: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Approximately </a:t>
            </a:r>
            <a:r>
              <a:rPr lang="en-IN" dirty="0"/>
              <a:t>9k</a:t>
            </a:r>
            <a:r>
              <a:rPr dirty="0"/>
              <a:t> male employees (</a:t>
            </a:r>
            <a:r>
              <a:rPr lang="en-IN" dirty="0"/>
              <a:t>51.01</a:t>
            </a:r>
            <a:r>
              <a:rPr dirty="0"/>
              <a:t>%) are shown.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 </a:t>
            </a: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A small remaining share is represented by the non-</a:t>
            </a:r>
            <a:r>
              <a:rPr lang="en-IN" dirty="0"/>
              <a:t>            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    conforming category.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</a:t>
            </a:r>
            <a:r>
              <a:rPr lang="en-IN" dirty="0"/>
              <a:t> </a:t>
            </a:r>
            <a:r>
              <a:rPr dirty="0"/>
              <a:t>Overall, the dashboard indicates a relatively diverse</a:t>
            </a:r>
            <a:r>
              <a:rPr lang="en-IN" dirty="0"/>
              <a:t> 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    workforce.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EAC0F6-FB62-EEDB-33CE-EF81826B3BC5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7BC90-CA29-32D0-B3A1-0DB746578D54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6DBC57-FA0E-CDF4-CC92-A271B3EF6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03" y="2008158"/>
            <a:ext cx="4896465" cy="2456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6. Employee Distribution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880" y="1259512"/>
            <a:ext cx="10374315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Ohio has the highest employee concentration, with approximately 1</a:t>
            </a:r>
            <a:r>
              <a:rPr lang="en-IN" dirty="0"/>
              <a:t>5</a:t>
            </a:r>
            <a:r>
              <a:rPr dirty="0"/>
              <a:t>K employees displayed.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Pennsylvania, Illinois, Indiana and Michigan have much smaller employee counts.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The workforce is therefore highly concentrated in one major state.</a:t>
            </a:r>
          </a:p>
          <a:p>
            <a:pPr>
              <a:spcAft>
                <a:spcPts val="1000"/>
              </a:spcAft>
              <a:defRPr sz="20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Geographical concentration should be considered in workforce continuity and location planning.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C63434-2DE6-F4CF-0DB3-4F15311C8775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888052-FF02-7216-F7AB-F4CEAD022207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11FB6-6ABE-5855-83FE-3EB5227F6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29" y="3057831"/>
            <a:ext cx="6086168" cy="33134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27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7. Workforce Distribution by Race and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12800"/>
            <a:ext cx="6181049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</a:defRPr>
            </a:pPr>
            <a:r>
              <a:rPr dirty="0"/>
              <a:t>Race: White employees form the largest group at approximately </a:t>
            </a:r>
            <a:r>
              <a:rPr lang="en-IN" dirty="0"/>
              <a:t>5.2</a:t>
            </a:r>
            <a:r>
              <a:rPr dirty="0"/>
              <a:t>K, followed by Black/African and Asian employee groups.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</a:defRPr>
            </a:pPr>
            <a:r>
              <a:rPr dirty="0"/>
              <a:t>Department: Engineering is the largest department at approximately </a:t>
            </a:r>
            <a:r>
              <a:rPr lang="en-IN" dirty="0"/>
              <a:t>5.5</a:t>
            </a:r>
            <a:r>
              <a:rPr dirty="0"/>
              <a:t>K employees.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</a:defRPr>
            </a:pPr>
            <a:r>
              <a:rPr dirty="0"/>
              <a:t>Accounting is the second-largest department at approximately </a:t>
            </a:r>
            <a:r>
              <a:rPr lang="en-IN" dirty="0"/>
              <a:t>2.7</a:t>
            </a:r>
            <a:r>
              <a:rPr dirty="0"/>
              <a:t>K employees.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</a:defRPr>
            </a:pPr>
            <a:r>
              <a:rPr dirty="0"/>
              <a:t>These distributions help identify workforce concentration and support diversity and staffing analysis.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535E1-8D2F-4466-DBF5-66A507C05CED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D38CD5-A237-C75E-6146-334F1D4CEC4C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C91119-29C8-3232-B577-EF346338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454" y="812800"/>
            <a:ext cx="4846740" cy="27351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DF79C8-70A2-0400-CB34-B93766ABD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58" y="3720706"/>
            <a:ext cx="11049983" cy="24923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8. Key Insights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856" y="1143000"/>
            <a:ext cx="10776220" cy="23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Insight: The workforce is heavily concentrated at headquarters rather than remote locations.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Insight: Ohio and Engineering represent the strongest geographical and departmental concentrations.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Insight: Hiring has remained relatively consistent after the early growth period.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Recommendation: Expand remote or hybrid workforce analysis to understand opportunities for flexible work.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Recommendation: Review workforce concentration by location to reduce dependency on a single major region.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dirty="0"/>
              <a:t>Recommendation: Monitor diversity metrics and department-level staffing for balanced workforce planning.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B8982-3615-BC57-E9BC-852CA7E24AF5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2498E-7D2B-0BB8-B9AA-A69BEA70A406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1840" y="1417320"/>
            <a:ext cx="1058672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</a:defRPr>
            </a:pPr>
            <a:r>
              <a:rPr dirty="0"/>
              <a:t>The HR Analytics dashboard provides a consolidated view of employee demographics, work locations, hiring patterns and departmental distribution.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</a:defRPr>
            </a:pPr>
            <a:r>
              <a:rPr dirty="0"/>
              <a:t>The analysis highlights a predominantly HQ-based workforce, an average employee age of 38.4</a:t>
            </a:r>
            <a:r>
              <a:rPr lang="en-IN" dirty="0"/>
              <a:t>7</a:t>
            </a:r>
            <a:r>
              <a:rPr dirty="0"/>
              <a:t> years, strong employee concentration in Ohio, and Engineering as the largest department.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</a:defRPr>
            </a:pPr>
            <a:r>
              <a:rPr dirty="0"/>
              <a:t>These insights can support strategic workforce planning, recruitment, diversity monitoring and organizational resource allocation.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3349" y="5029200"/>
            <a:ext cx="21348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AA94"/>
                </a:solidFill>
              </a:defRPr>
            </a:pPr>
            <a:r>
              <a:rPr dirty="0"/>
              <a:t>THANK YOU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6CDA7A-57FB-CDA8-C443-3D89D00BAD4B}"/>
              </a:ext>
            </a:extLst>
          </p:cNvPr>
          <p:cNvSpPr/>
          <p:nvPr/>
        </p:nvSpPr>
        <p:spPr>
          <a:xfrm>
            <a:off x="-11798" y="0"/>
            <a:ext cx="188779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4A5AB6-D57C-D31C-35DA-0F7E0C81CC72}"/>
              </a:ext>
            </a:extLst>
          </p:cNvPr>
          <p:cNvSpPr/>
          <p:nvPr/>
        </p:nvSpPr>
        <p:spPr>
          <a:xfrm>
            <a:off x="11031794" y="0"/>
            <a:ext cx="540775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4A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D2DCD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642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A</cp:lastModifiedBy>
  <cp:revision>9</cp:revision>
  <dcterms:created xsi:type="dcterms:W3CDTF">2013-01-27T09:14:16Z</dcterms:created>
  <dcterms:modified xsi:type="dcterms:W3CDTF">2026-08-28T09:45:41Z</dcterms:modified>
  <cp:category/>
</cp:coreProperties>
</file>